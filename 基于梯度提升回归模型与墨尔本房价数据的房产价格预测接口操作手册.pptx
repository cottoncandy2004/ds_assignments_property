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8" d="100"/>
          <a:sy n="88" d="100"/>
        </p:scale>
        <p:origin x="76" y="12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B81585-2999-FAF1-6E19-D675AC5D10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3BFBE4-34CA-097E-F69F-88CA4593A8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523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015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815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C4DD84-1623-52A4-6BE8-5F46345E75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154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3981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955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4B3430-3E6B-70CE-CDC5-1D325FC932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742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487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746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FCF1CB-50EA-0DE4-C8C8-7789129F23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FE1DB7-C023-E17E-F122-D8616AD2A6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196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917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957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5AE9B-1227-C9C1-AF82-B369C298BE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26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945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173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36FE4C-26ED-0ED0-08FF-491491B57A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A32700-6A20-52F4-97C2-F1C4645AB2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标题幻灯片">
    <p:bg>
      <p:bgPr shadeToTitle="0">
        <a:blipFill>
          <a:blip r:embed="rId2">
            <a:lum/>
          </a:blip>
          <a:stretch>
            <a:fillRect l="0" t="-3000" r="0" b="-3000"/>
          </a:stretch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719820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  <a:latin typeface="方正启体_GBK"/>
                <a:ea typeface="方正启体_GBK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293479854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方正启体_GBK"/>
                <a:ea typeface="方正启体_GBK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197481407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585613189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08801350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000078" name="标题 1"/>
          <p:cNvSpPr>
            <a:spLocks noGrp="1"/>
          </p:cNvSpPr>
          <p:nvPr>
            <p:ph type="title"/>
          </p:nvPr>
        </p:nvSpPr>
        <p:spPr bwMode="auto">
          <a:xfrm>
            <a:off x="1286538" y="207039"/>
            <a:ext cx="10515600" cy="947996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方正卡通_GBK"/>
                <a:ea typeface="方正卡通_GBK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269270863" name="内容占位符 2"/>
          <p:cNvSpPr>
            <a:spLocks noGrp="1"/>
          </p:cNvSpPr>
          <p:nvPr>
            <p:ph idx="1"/>
          </p:nvPr>
        </p:nvSpPr>
        <p:spPr bwMode="auto">
          <a:xfrm>
            <a:off x="241005" y="1140489"/>
            <a:ext cx="11561134" cy="478397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霞鹜文楷"/>
                <a:ea typeface="霞鹜文楷"/>
              </a:defRPr>
            </a:lvl1pPr>
            <a:lvl2pPr>
              <a:defRPr>
                <a:solidFill>
                  <a:schemeClr val="tx1"/>
                </a:solidFill>
                <a:latin typeface="霞鹜文楷"/>
                <a:ea typeface="霞鹜文楷"/>
              </a:defRPr>
            </a:lvl2pPr>
            <a:lvl3pPr>
              <a:defRPr>
                <a:solidFill>
                  <a:schemeClr val="tx1"/>
                </a:solidFill>
                <a:latin typeface="霞鹜文楷"/>
                <a:ea typeface="霞鹜文楷"/>
              </a:defRPr>
            </a:lvl3pPr>
            <a:lvl4pPr>
              <a:defRPr>
                <a:solidFill>
                  <a:schemeClr val="tx1"/>
                </a:solidFill>
                <a:latin typeface="霞鹜文楷"/>
                <a:ea typeface="霞鹜文楷"/>
              </a:defRPr>
            </a:lvl4pPr>
            <a:lvl5pPr>
              <a:defRPr>
                <a:solidFill>
                  <a:schemeClr val="tx1"/>
                </a:solidFill>
                <a:latin typeface="霞鹜文楷"/>
                <a:ea typeface="霞鹜文楷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20275362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92888438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5064156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  <p:pic>
        <p:nvPicPr>
          <p:cNvPr id="1470972450" name="图片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70121" y="136525"/>
            <a:ext cx="1048410" cy="984722"/>
          </a:xfrm>
          <a:prstGeom prst="rect">
            <a:avLst/>
          </a:prstGeom>
        </p:spPr>
      </p:pic>
      <p:cxnSp>
        <p:nvCxnSpPr>
          <p:cNvPr id="1857228323" name="直接连接符 9"/>
          <p:cNvCxnSpPr/>
          <p:nvPr userDrawn="1"/>
        </p:nvCxnSpPr>
        <p:spPr bwMode="auto">
          <a:xfrm>
            <a:off x="1286538" y="1050367"/>
            <a:ext cx="10515600" cy="0"/>
          </a:xfrm>
          <a:prstGeom prst="line">
            <a:avLst/>
          </a:prstGeom>
          <a:ln w="3175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043451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88471220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451336009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7352310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1808928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285467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78850206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201336871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720695462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53206385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  <p:sp>
        <p:nvSpPr>
          <p:cNvPr id="206242231" name="标题 1"/>
          <p:cNvSpPr txBox="1"/>
          <p:nvPr userDrawn="1"/>
        </p:nvSpPr>
        <p:spPr bwMode="auto">
          <a:xfrm>
            <a:off x="1218531" y="220007"/>
            <a:ext cx="10719624" cy="935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方正卡通_GBK"/>
                <a:ea typeface="方正卡通_GBK"/>
                <a:cs typeface="+mj-cs"/>
              </a:defRPr>
            </a:lvl1pPr>
          </a:lstStyle>
          <a:p>
            <a:pPr>
              <a:defRPr/>
            </a:pPr>
            <a:r>
              <a:rPr lang="zh-CN" sz="4400"/>
              <a:t>单击此处编辑母版标题样式</a:t>
            </a:r>
            <a:endParaRPr/>
          </a:p>
        </p:txBody>
      </p:sp>
      <p:pic>
        <p:nvPicPr>
          <p:cNvPr id="924287878" name="图片 8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70121" y="150369"/>
            <a:ext cx="1048410" cy="957034"/>
          </a:xfrm>
          <a:prstGeom prst="rect">
            <a:avLst/>
          </a:prstGeom>
        </p:spPr>
      </p:pic>
      <p:cxnSp>
        <p:nvCxnSpPr>
          <p:cNvPr id="1549461613" name="直接连接符 9"/>
          <p:cNvCxnSpPr/>
          <p:nvPr userDrawn="1"/>
        </p:nvCxnSpPr>
        <p:spPr bwMode="auto">
          <a:xfrm>
            <a:off x="1286538" y="1050367"/>
            <a:ext cx="10515600" cy="0"/>
          </a:xfrm>
          <a:prstGeom prst="line">
            <a:avLst/>
          </a:prstGeom>
          <a:ln w="3175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571287" name="标题 1"/>
          <p:cNvSpPr>
            <a:spLocks noGrp="1"/>
          </p:cNvSpPr>
          <p:nvPr>
            <p:ph type="title"/>
          </p:nvPr>
        </p:nvSpPr>
        <p:spPr bwMode="auto">
          <a:xfrm>
            <a:off x="1218531" y="160862"/>
            <a:ext cx="10787632" cy="1069798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93388647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46888" y="1172996"/>
            <a:ext cx="11355252" cy="497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967634802" name="内容占位符 3"/>
          <p:cNvSpPr>
            <a:spLocks noGrp="1"/>
          </p:cNvSpPr>
          <p:nvPr>
            <p:ph sz="half" idx="2"/>
          </p:nvPr>
        </p:nvSpPr>
        <p:spPr bwMode="auto">
          <a:xfrm>
            <a:off x="446888" y="1670671"/>
            <a:ext cx="11355252" cy="4518992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31320305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710023225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94472113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  <p:pic>
        <p:nvPicPr>
          <p:cNvPr id="1212402694" name="图片 1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70121" y="150369"/>
            <a:ext cx="1048410" cy="957034"/>
          </a:xfrm>
          <a:prstGeom prst="rect">
            <a:avLst/>
          </a:prstGeom>
        </p:spPr>
      </p:pic>
      <p:cxnSp>
        <p:nvCxnSpPr>
          <p:cNvPr id="1913642954" name="直接连接符 14"/>
          <p:cNvCxnSpPr/>
          <p:nvPr userDrawn="1"/>
        </p:nvCxnSpPr>
        <p:spPr bwMode="auto">
          <a:xfrm>
            <a:off x="1286538" y="1050367"/>
            <a:ext cx="10515600" cy="0"/>
          </a:xfrm>
          <a:prstGeom prst="line">
            <a:avLst/>
          </a:prstGeom>
          <a:ln w="3175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493506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36089754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637580155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71079706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空白">
    <p:bg>
      <p:bgPr shadeToTitle="0">
        <a:blipFill>
          <a:blip r:embed="rId2">
            <a:lum/>
          </a:blip>
          <a:stretch>
            <a:fillRect l="0" t="-6000" r="0" b="-6000"/>
          </a:stretch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188945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12577789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40097702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596623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411771752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002611708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66824946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06914414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47509206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361080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637363010" name="图片占位符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1870183593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219898421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727494985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116174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40252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307670447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91883501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4874628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5194840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716478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390229381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820452401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714462120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71004940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>
            <a:fillRect l="0" t="-25000" r="0" b="-25000"/>
          </a:stretch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26337" name="矩形 7"/>
          <p:cNvSpPr/>
          <p:nvPr userDrawn="1"/>
        </p:nvSpPr>
        <p:spPr bwMode="auto">
          <a:xfrm>
            <a:off x="155944" y="136525"/>
            <a:ext cx="11851758" cy="658495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497758349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23550255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290463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B2476B-CE2B-4DB3-BC0A-00736648195B}" type="datetimeFigureOut">
              <a:rPr lang="zh-CN"/>
              <a:t>2023/10/14</a:t>
            </a:fld>
            <a:endParaRPr lang="zh-CN"/>
          </a:p>
        </p:txBody>
      </p:sp>
      <p:sp>
        <p:nvSpPr>
          <p:cNvPr id="103308988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654803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C4F333-8640-4FDC-88C0-8D17401EB265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方正卡通_GBK"/>
          <a:ea typeface="方正卡通_GBK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霞鹜文楷"/>
          <a:ea typeface="霞鹜文楷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霞鹜文楷"/>
          <a:ea typeface="霞鹜文楷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霞鹜文楷"/>
          <a:ea typeface="霞鹜文楷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霞鹜文楷"/>
          <a:ea typeface="霞鹜文楷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霞鹜文楷"/>
          <a:ea typeface="霞鹜文楷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stral.sh/uv/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587227" name="标题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方正姚体"/>
                <a:ea typeface="方正姚体"/>
                <a:cs typeface="方正姚体"/>
              </a:rPr>
              <a:t>操作手册</a:t>
            </a:r>
            <a:endParaRPr/>
          </a:p>
        </p:txBody>
      </p:sp>
      <p:sp>
        <p:nvSpPr>
          <p:cNvPr id="60450903" name="副标题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DFHanziPenW5-A"/>
                <a:ea typeface="DFHanziPenW5-A"/>
                <a:cs typeface="DFHanziPenW5-A"/>
              </a:rPr>
              <a:t>基于梯度提升回归模型与墨尔本房价数据的房产价格预测接口</a:t>
            </a:r>
            <a:endParaRPr>
              <a:latin typeface="DFHanziPenW5-A"/>
              <a:cs typeface="DFHanziPenW5-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31881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python原生运行</a:t>
            </a:r>
            <a:endParaRPr/>
          </a:p>
        </p:txBody>
      </p:sp>
      <p:sp>
        <p:nvSpPr>
          <p:cNvPr id="1861309643" name="内容占位符 2"/>
          <p:cNvSpPr>
            <a:spLocks noGrp="1"/>
          </p:cNvSpPr>
          <p:nvPr>
            <p:ph idx="1"/>
          </p:nvPr>
        </p:nvSpPr>
        <p:spPr bwMode="auto">
          <a:xfrm flipH="0" flipV="0">
            <a:off x="547755" y="1155034"/>
            <a:ext cx="10958625" cy="52743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前往uv官网[</a:t>
            </a:r>
            <a:r>
              <a:rPr lang="en-US" u="sng">
                <a:hlinkClick r:id="rId3" tooltip=""/>
              </a:rPr>
              <a:t>https://docs.astral.sh/uv/</a:t>
            </a:r>
            <a:r>
              <a:rPr lang="en-US"/>
              <a:t>]安装uv</a:t>
            </a:r>
            <a:endParaRPr/>
          </a:p>
          <a:p>
            <a:pPr>
              <a:defRPr/>
            </a:pPr>
            <a:r>
              <a:rPr lang="en-US"/>
              <a:t>进入项目目录</a:t>
            </a:r>
            <a:r>
              <a:rPr lang="en-US"/>
              <a:t>并执行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如果你是windows，则执行</a:t>
            </a:r>
            <a:endParaRPr/>
          </a:p>
        </p:txBody>
      </p:sp>
      <p:sp>
        <p:nvSpPr>
          <p:cNvPr id="395502884" name=""/>
          <p:cNvSpPr/>
          <p:nvPr/>
        </p:nvSpPr>
        <p:spPr bwMode="auto">
          <a:xfrm rot="0" flipH="0" flipV="0">
            <a:off x="1034605" y="2149391"/>
            <a:ext cx="10239374" cy="983832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zh-CN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uv venv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zh-CN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uv sync</a:t>
            </a:r>
            <a:endParaRPr>
              <a:latin typeface="LXGW WenKai Mono Medium"/>
              <a:ea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source ./.venv/bin/activate</a:t>
            </a:r>
            <a:endParaRPr>
              <a:latin typeface="LXGW WenKai Mono Medium"/>
              <a:cs typeface="LXGW WenKai Mono Medium"/>
            </a:endParaRPr>
          </a:p>
        </p:txBody>
      </p:sp>
      <p:sp>
        <p:nvSpPr>
          <p:cNvPr id="457135603" name=""/>
          <p:cNvSpPr/>
          <p:nvPr/>
        </p:nvSpPr>
        <p:spPr bwMode="auto">
          <a:xfrm rot="0" flipH="0" flipV="0">
            <a:off x="1034605" y="3792204"/>
            <a:ext cx="10239374" cy="983831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zh-CN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uv venv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zh-CN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uv sync</a:t>
            </a:r>
            <a:endParaRPr>
              <a:latin typeface="LXGW WenKai Mono Medium"/>
              <a:ea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./.venv/bin/activate</a:t>
            </a:r>
            <a:endParaRPr>
              <a:latin typeface="LXGW WenKai Mono Medium"/>
              <a:cs typeface="LXGW WenKai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30856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python原生运行</a:t>
            </a:r>
            <a:endParaRPr/>
          </a:p>
        </p:txBody>
      </p:sp>
      <p:sp>
        <p:nvSpPr>
          <p:cNvPr id="283279276" name="内容占位符 2"/>
          <p:cNvSpPr>
            <a:spLocks noGrp="1"/>
          </p:cNvSpPr>
          <p:nvPr>
            <p:ph idx="1"/>
          </p:nvPr>
        </p:nvSpPr>
        <p:spPr bwMode="auto">
          <a:xfrm flipH="0" flipV="0">
            <a:off x="547755" y="1155034"/>
            <a:ext cx="10958625" cy="5274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接下来执行</a:t>
            </a:r>
            <a:endParaRPr lang="en-US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US"/>
              <a:t>即可进行模型训练</a:t>
            </a:r>
            <a:endParaRPr/>
          </a:p>
          <a:p>
            <a:pPr marL="0" indent="0">
              <a:buFont typeface="Arial"/>
              <a:buNone/>
              <a:defRPr/>
            </a:pPr>
            <a:endParaRPr lang="en-US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训练完毕后执行</a:t>
            </a:r>
            <a:endParaRPr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US"/>
              <a:t>即可进行预测。</a:t>
            </a:r>
            <a:endParaRPr lang="en-US"/>
          </a:p>
          <a:p>
            <a:pPr marL="0" indent="0">
              <a:buFont typeface="Arial"/>
              <a:buNone/>
              <a:defRPr/>
            </a:pPr>
            <a:r>
              <a:rPr lang="en-US"/>
              <a:t>默认缺省参数会使用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数据集中位数/众数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作为默认值</a:t>
            </a:r>
            <a:r>
              <a:rPr lang="en-US"/>
              <a:t>。</a:t>
            </a:r>
            <a:endParaRPr lang="en-US"/>
          </a:p>
          <a:p>
            <a:pPr marL="0" indent="0">
              <a:buFont typeface="Arial"/>
              <a:buNone/>
              <a:defRPr/>
            </a:pPr>
            <a:r>
              <a:rPr lang="en-US"/>
              <a:t>更多参数详见</a:t>
            </a:r>
            <a:endParaRPr/>
          </a:p>
        </p:txBody>
      </p:sp>
      <p:sp>
        <p:nvSpPr>
          <p:cNvPr id="1843379363" name=""/>
          <p:cNvSpPr/>
          <p:nvPr/>
        </p:nvSpPr>
        <p:spPr bwMode="auto">
          <a:xfrm rot="0" flipH="0" flipV="0">
            <a:off x="1034604" y="1585410"/>
            <a:ext cx="10239374" cy="576513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property train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956233692" name=""/>
          <p:cNvSpPr/>
          <p:nvPr/>
        </p:nvSpPr>
        <p:spPr bwMode="auto">
          <a:xfrm rot="0" flipH="0" flipV="0">
            <a:off x="1034604" y="3636543"/>
            <a:ext cx="10239374" cy="576513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property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calc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995299185" name=""/>
          <p:cNvSpPr/>
          <p:nvPr/>
        </p:nvSpPr>
        <p:spPr bwMode="auto">
          <a:xfrm rot="0" flipH="0" flipV="0">
            <a:off x="1034604" y="5706475"/>
            <a:ext cx="10239374" cy="576513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property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-h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86919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Flask Web Api原生</a:t>
            </a:r>
            <a:endParaRPr/>
          </a:p>
        </p:txBody>
      </p:sp>
      <p:sp>
        <p:nvSpPr>
          <p:cNvPr id="1293359399" name="内容占位符 2"/>
          <p:cNvSpPr>
            <a:spLocks noGrp="1"/>
          </p:cNvSpPr>
          <p:nvPr>
            <p:ph idx="1"/>
          </p:nvPr>
        </p:nvSpPr>
        <p:spPr bwMode="auto">
          <a:xfrm flipH="0" flipV="0">
            <a:off x="547755" y="1785937"/>
            <a:ext cx="10958625" cy="464343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确认训练好模型后，使用以下命令启动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Flask</a:t>
            </a:r>
            <a:r>
              <a:rPr lang="en-US"/>
              <a:t>服务</a:t>
            </a:r>
            <a:endParaRPr lang="en-US"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也可以直接运行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 lang="en-US"/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通过 `HOST`、`PORT` 环境变量调整监听地址。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893815815" name=""/>
          <p:cNvSpPr/>
          <p:nvPr/>
        </p:nvSpPr>
        <p:spPr bwMode="auto">
          <a:xfrm rot="0" flipH="0" flipV="0">
            <a:off x="1197532" y="1155033"/>
            <a:ext cx="10239374" cy="576513"/>
          </a:xfrm>
          <a:prstGeom prst="rect">
            <a:avLst/>
          </a:prstGeom>
          <a:solidFill>
            <a:schemeClr val="accent4">
              <a:alpha val="49999"/>
            </a:schemeClr>
          </a:solidFill>
          <a:ln w="28575" cap="flat" cmpd="sng" algn="ctr">
            <a:solidFill>
              <a:srgbClr val="ED7D3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我们不建议您在生产环境中直接使用该方法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953488733" name=""/>
          <p:cNvSpPr/>
          <p:nvPr/>
        </p:nvSpPr>
        <p:spPr bwMode="auto">
          <a:xfrm rot="0" flipH="0" flipV="0">
            <a:off x="1034604" y="2301039"/>
            <a:ext cx="10239374" cy="784055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export FLASK_APP=property.api</a:t>
            </a:r>
            <a:endParaRPr lang="en-US"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flask run --host 0.0.0.0 --port 5000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405309077" name=""/>
          <p:cNvSpPr/>
          <p:nvPr/>
        </p:nvSpPr>
        <p:spPr bwMode="auto">
          <a:xfrm rot="0" flipH="0" flipV="0">
            <a:off x="1034604" y="3819398"/>
            <a:ext cx="10239374" cy="576513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python -m property.api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75731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Flask Web Api原生</a:t>
            </a:r>
            <a:endParaRPr/>
          </a:p>
        </p:txBody>
      </p:sp>
      <p:sp>
        <p:nvSpPr>
          <p:cNvPr id="1263170289" name="内容占位符 2"/>
          <p:cNvSpPr>
            <a:spLocks noGrp="1"/>
          </p:cNvSpPr>
          <p:nvPr>
            <p:ph idx="1"/>
          </p:nvPr>
        </p:nvSpPr>
        <p:spPr bwMode="auto">
          <a:xfrm flipH="0" flipV="0">
            <a:off x="547755" y="1785936"/>
            <a:ext cx="5474941" cy="38350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路由说明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/health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：返回模型路径、数据路径、目标列等基础信息。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cs typeface="霞鹜文楷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/predict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：根据查询参数进行推理，返回 JSON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796363577" name=""/>
          <p:cNvSpPr/>
          <p:nvPr/>
        </p:nvSpPr>
        <p:spPr bwMode="auto">
          <a:xfrm rot="0" flipH="0" flipV="0">
            <a:off x="1197531" y="1155033"/>
            <a:ext cx="10239374" cy="576513"/>
          </a:xfrm>
          <a:prstGeom prst="rect">
            <a:avLst/>
          </a:prstGeom>
          <a:solidFill>
            <a:schemeClr val="accent4">
              <a:alpha val="49999"/>
            </a:schemeClr>
          </a:solidFill>
          <a:ln w="28575" cap="flat" cmpd="sng" algn="ctr">
            <a:solidFill>
              <a:srgbClr val="ED7D3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我们不建议您在生产环境中直接使用该方法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84976443" name=""/>
          <p:cNvSpPr/>
          <p:nvPr/>
        </p:nvSpPr>
        <p:spPr bwMode="auto">
          <a:xfrm rot="0" flipH="0" flipV="0">
            <a:off x="6175096" y="2434512"/>
            <a:ext cx="5261810" cy="3186489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"currency": "AUD",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"features": 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"Address": "1/1 Clarendon St",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"Bathroom": 2,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"Bedroom2": 3,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"BuildingArea": 126,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"Car": 1,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"Distance": 6.5,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"Landsize": 440,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...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},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"overrides": 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"Bathroom": 2,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"Car": 1,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"Distance": 6.5,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"Rooms": 3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},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"prediction": 1757068.82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}</a:t>
            </a:r>
            <a:endParaRPr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036044190" name=""/>
          <p:cNvSpPr/>
          <p:nvPr/>
        </p:nvSpPr>
        <p:spPr bwMode="auto">
          <a:xfrm rot="0" flipH="0" flipV="0">
            <a:off x="1197531" y="5746331"/>
            <a:ext cx="10239374" cy="683039"/>
          </a:xfrm>
          <a:prstGeom prst="rect">
            <a:avLst/>
          </a:prstGeom>
          <a:solidFill>
            <a:schemeClr val="accent6">
              <a:lumMod val="60000"/>
              <a:lumOff val="40000"/>
              <a:alpha val="49999"/>
            </a:schemeClr>
          </a:solidFill>
          <a:ln w="28575" cap="flat" cmpd="sng" algn="ctr">
            <a:solidFill>
              <a:schemeClr val="accent6">
                <a:lumMod val="7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所有特征（包括 CLI 中的别名）都可以作为查询参数；未提供的特征将继续使用数据集中位数/众数作为默认值。若需要覆盖其他列，可多次传入 `</a:t>
            </a:r>
            <a:r>
              <a:rPr lang="en-US" sz="1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LXGW WenKai Mono Medium"/>
                <a:ea typeface="LXGW WenKai Mono Medium"/>
                <a:cs typeface="LXGW WenKai Mono Medium"/>
              </a:rPr>
              <a:t>feature=Column=Value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`。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849516701" name="内容占位符 2"/>
          <p:cNvSpPr>
            <a:spLocks noGrp="1"/>
          </p:cNvSpPr>
          <p:nvPr/>
        </p:nvSpPr>
        <p:spPr bwMode="auto">
          <a:xfrm flipH="0" flipV="0">
            <a:off x="6175096" y="1785936"/>
            <a:ext cx="5474940" cy="38350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响应示例</a:t>
            </a:r>
            <a:endParaRPr lang="en-US" sz="1600" b="0" i="0" u="none" strike="noStrike" cap="none" spc="0">
              <a:solidFill>
                <a:schemeClr val="accent1">
                  <a:lumMod val="75000"/>
                </a:schemeClr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r>
              <a:rPr lang="en-US" sz="1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/predict?Rooms=3&amp;Bathroom=2&amp;Car=1&amp;Distance=6.5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2397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Docker 集成与部署</a:t>
            </a:r>
            <a:endParaRPr lang="en-US" sz="4000" b="0" i="0" u="none" strike="noStrike" cap="none" spc="0">
              <a:solidFill>
                <a:schemeClr val="tx1"/>
              </a:solidFill>
              <a:latin typeface="FZYaoTi"/>
              <a:cs typeface="FZYaoTi"/>
            </a:endParaRPr>
          </a:p>
        </p:txBody>
      </p:sp>
      <p:sp>
        <p:nvSpPr>
          <p:cNvPr id="161308894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46888" y="1172997"/>
            <a:ext cx="11355252" cy="57783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从</a:t>
            </a:r>
            <a:r>
              <a:rPr lang="zh-CN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Dockerfile</a:t>
            </a:r>
            <a:r>
              <a:rPr lang="en-US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构建镜像</a:t>
            </a:r>
            <a:endParaRPr/>
          </a:p>
        </p:txBody>
      </p:sp>
      <p:sp>
        <p:nvSpPr>
          <p:cNvPr id="1407916404" name="内容占位符 3"/>
          <p:cNvSpPr>
            <a:spLocks noGrp="1"/>
          </p:cNvSpPr>
          <p:nvPr>
            <p:ph sz="half" idx="2"/>
          </p:nvPr>
        </p:nvSpPr>
        <p:spPr bwMode="auto">
          <a:xfrm>
            <a:off x="446888" y="1750829"/>
            <a:ext cx="11355252" cy="443883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训练模型（或将已有的 `</a:t>
            </a:r>
            <a:r>
              <a:rPr lang="en-US" sz="2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models/melb_gbr_pipeline.joblib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` 放入仓库）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构建镜像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霞鹜文楷"/>
              <a:cs typeface="霞鹜文楷"/>
            </a:endParaRPr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运行容器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cs typeface="霞鹜文楷"/>
            </a:endParaRPr>
          </a:p>
        </p:txBody>
      </p:sp>
      <p:sp>
        <p:nvSpPr>
          <p:cNvPr id="1406491547" name=""/>
          <p:cNvSpPr/>
          <p:nvPr/>
        </p:nvSpPr>
        <p:spPr bwMode="auto">
          <a:xfrm rot="0" flipH="0" flipV="0">
            <a:off x="1034604" y="2725903"/>
            <a:ext cx="10239374" cy="463717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docker build -t property-api:latest .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566360773" name=""/>
          <p:cNvSpPr/>
          <p:nvPr/>
        </p:nvSpPr>
        <p:spPr bwMode="auto">
          <a:xfrm rot="0" flipH="0" flipV="0">
            <a:off x="1034604" y="3661609"/>
            <a:ext cx="10239374" cy="1458077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docker run --rm -p 8000:8000 \</a:t>
            </a:r>
            <a:endParaRPr lang="en-US"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	-e PROPERTY_MODEL_PATH=/app/models/melb_gbr_pipeline.joblib \</a:t>
            </a:r>
            <a:endParaRPr lang="en-US"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	-e PROPERTY_DATA_PATH=/app/data/melb_data.csv \</a:t>
            </a:r>
            <a:endParaRPr lang="en-US"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	property-api:latest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472297203" name=""/>
          <p:cNvSpPr/>
          <p:nvPr/>
        </p:nvSpPr>
        <p:spPr bwMode="auto">
          <a:xfrm rot="0" flipH="0" flipV="0">
            <a:off x="1034604" y="5165560"/>
            <a:ext cx="10239374" cy="576513"/>
          </a:xfrm>
          <a:prstGeom prst="rect">
            <a:avLst/>
          </a:prstGeom>
          <a:solidFill>
            <a:schemeClr val="accent4">
              <a:alpha val="49999"/>
            </a:schemeClr>
          </a:solidFill>
          <a:ln w="28575" cap="flat" cmpd="sng" algn="ctr">
            <a:solidFill>
              <a:srgbClr val="ED7D3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命令仅供参考，具体使用`</a:t>
            </a:r>
            <a:r>
              <a:rPr lang="en-US" sz="1800" b="0" i="0" u="none" strike="noStrike" cap="none" spc="0">
                <a:solidFill>
                  <a:srgbClr val="0070C0"/>
                </a:solidFill>
                <a:latin typeface="LXGW WenKai Mono Medium"/>
                <a:ea typeface="LXGW WenKai Mono Medium"/>
                <a:cs typeface="LXGW WenKai Mono Medium"/>
              </a:rPr>
              <a:t>-v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`进行外部的挂载卷请根据实际生产环境修改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178766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Docker 集成与部署</a:t>
            </a:r>
            <a:endParaRPr lang="en-US" sz="4000" b="0" i="0" u="none" strike="noStrike" cap="none" spc="0">
              <a:solidFill>
                <a:schemeClr val="tx1"/>
              </a:solidFill>
              <a:latin typeface="FZYaoTi"/>
              <a:cs typeface="FZYaoTi"/>
            </a:endParaRPr>
          </a:p>
        </p:txBody>
      </p:sp>
      <p:sp>
        <p:nvSpPr>
          <p:cNvPr id="190545294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46887" y="1172997"/>
            <a:ext cx="11355252" cy="57783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从</a:t>
            </a:r>
            <a:r>
              <a:rPr lang="en-US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 </a:t>
            </a:r>
            <a:r>
              <a:rPr lang="zh-CN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docker-compose 快速启动</a:t>
            </a:r>
            <a:endParaRPr/>
          </a:p>
        </p:txBody>
      </p:sp>
      <p:sp>
        <p:nvSpPr>
          <p:cNvPr id="55912382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46887" y="1750828"/>
            <a:ext cx="11355252" cy="443883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训练模型（或将已有的 `</a:t>
            </a:r>
            <a:r>
              <a:rPr lang="en-US" sz="2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models/melb_gbr_pipeline.joblib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` 放入仓库）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构建镜像并启动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</p:txBody>
      </p:sp>
      <p:sp>
        <p:nvSpPr>
          <p:cNvPr id="1981546193" name=""/>
          <p:cNvSpPr/>
          <p:nvPr/>
        </p:nvSpPr>
        <p:spPr bwMode="auto">
          <a:xfrm rot="0" flipH="0" flipV="0">
            <a:off x="1034604" y="2725903"/>
            <a:ext cx="10239374" cy="463716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$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docker compose up --build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835929609" name=""/>
          <p:cNvSpPr/>
          <p:nvPr/>
        </p:nvSpPr>
        <p:spPr bwMode="auto">
          <a:xfrm rot="0" flipH="0" flipV="0">
            <a:off x="1034604" y="3246018"/>
            <a:ext cx="10239374" cy="576513"/>
          </a:xfrm>
          <a:prstGeom prst="rect">
            <a:avLst/>
          </a:prstGeom>
          <a:solidFill>
            <a:schemeClr val="accent4">
              <a:alpha val="49999"/>
            </a:schemeClr>
          </a:solidFill>
          <a:ln w="28575" cap="flat" cmpd="sng" algn="ctr">
            <a:solidFill>
              <a:srgbClr val="ED7D3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默认挂载项目下的models与data，具体挂载卷请根据实际生产环境修改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2266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FZYaoTi"/>
                <a:ea typeface="FZYaoTi"/>
                <a:cs typeface="FZYaoTi"/>
              </a:rPr>
              <a:t>Docker 集成与部署</a:t>
            </a:r>
            <a:endParaRPr lang="en-US" sz="4000" b="0" i="0" u="none" strike="noStrike" cap="none" spc="0">
              <a:solidFill>
                <a:schemeClr val="tx1"/>
              </a:solidFill>
              <a:latin typeface="FZYaoTi"/>
              <a:cs typeface="FZYaoTi"/>
            </a:endParaRPr>
          </a:p>
        </p:txBody>
      </p:sp>
      <p:sp>
        <p:nvSpPr>
          <p:cNvPr id="790448674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46887" y="1172997"/>
            <a:ext cx="11355252" cy="57783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Api接口</a:t>
            </a:r>
            <a:endParaRPr/>
          </a:p>
        </p:txBody>
      </p:sp>
      <p:sp>
        <p:nvSpPr>
          <p:cNvPr id="833089000" name="内容占位符 3"/>
          <p:cNvSpPr>
            <a:spLocks noGrp="1"/>
          </p:cNvSpPr>
          <p:nvPr>
            <p:ph sz="half" idx="2"/>
          </p:nvPr>
        </p:nvSpPr>
        <p:spPr bwMode="auto">
          <a:xfrm>
            <a:off x="446887" y="1750828"/>
            <a:ext cx="11355252" cy="443883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同Flask Web Api原生api接口。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默认监听8000端口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</p:txBody>
      </p:sp>
      <p:sp>
        <p:nvSpPr>
          <p:cNvPr id="1867696835" name="内容占位符 2"/>
          <p:cNvSpPr>
            <a:spLocks noGrp="1"/>
          </p:cNvSpPr>
          <p:nvPr/>
        </p:nvSpPr>
        <p:spPr bwMode="auto">
          <a:xfrm flipH="0" flipV="0">
            <a:off x="547755" y="2738437"/>
            <a:ext cx="5474940" cy="288256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 b="1">
                <a:solidFill>
                  <a:schemeClr val="tx1"/>
                </a:solidFill>
                <a:latin typeface="霞鹜文楷"/>
                <a:ea typeface="霞鹜文楷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 b="1">
                <a:solidFill>
                  <a:schemeClr val="tx1"/>
                </a:solidFill>
                <a:latin typeface="霞鹜文楷"/>
                <a:ea typeface="霞鹜文楷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 b="1">
                <a:solidFill>
                  <a:schemeClr val="tx1"/>
                </a:solidFill>
                <a:latin typeface="霞鹜文楷"/>
                <a:ea typeface="霞鹜文楷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霞鹜文楷"/>
                <a:ea typeface="霞鹜文楷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霞鹜文楷"/>
                <a:ea typeface="霞鹜文楷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路由说明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/health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：返回模型路径、数据路径、目标列等基础信息。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cs typeface="霞鹜文楷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/predict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：根据查询参数进行推理，返回 JSON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霞鹜文楷"/>
                <a:ea typeface="霞鹜文楷"/>
                <a:cs typeface="霞鹜文楷"/>
              </a:rPr>
              <a:t>。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780902687" name=""/>
          <p:cNvSpPr/>
          <p:nvPr/>
        </p:nvSpPr>
        <p:spPr bwMode="auto">
          <a:xfrm rot="0" flipH="0" flipV="0">
            <a:off x="6175096" y="2434512"/>
            <a:ext cx="5261809" cy="3186488"/>
          </a:xfrm>
          <a:prstGeom prst="rect">
            <a:avLst/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"currency": "AUD",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"features": 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"Address": "1/1 Clarendon St",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"Bathroom": 2,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"Bedroom2": 3,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"BuildingArea": 126,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"Car": 1,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"Distance": 6.5,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"Landsize": 440,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...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},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"overrides": {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"Bathroom": 2,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"Car": 1,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"Distance": 6.5,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  "Rooms": 3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},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  "prediction": 1757068.82</a:t>
            </a:r>
            <a:endParaRPr lang="en-US"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  <a:p>
            <a:pPr algn="l">
              <a:defRPr/>
            </a:pPr>
            <a:r>
              <a:rPr lang="en-US" sz="1000" b="0" i="0" u="none" strike="noStrike" cap="none" spc="0">
                <a:solidFill>
                  <a:schemeClr val="lt1"/>
                </a:solidFill>
                <a:latin typeface="LXGW WenKai Mono Medium"/>
                <a:ea typeface="LXGW WenKai Mono Medium"/>
                <a:cs typeface="LXGW WenKai Mono Medium"/>
              </a:rPr>
              <a:t>}</a:t>
            </a:r>
            <a:endParaRPr sz="10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1283522900" name=""/>
          <p:cNvSpPr/>
          <p:nvPr/>
        </p:nvSpPr>
        <p:spPr bwMode="auto">
          <a:xfrm rot="0" flipH="0" flipV="0">
            <a:off x="1197531" y="5746331"/>
            <a:ext cx="10239374" cy="683038"/>
          </a:xfrm>
          <a:prstGeom prst="rect">
            <a:avLst/>
          </a:prstGeom>
          <a:solidFill>
            <a:schemeClr val="accent6">
              <a:lumMod val="60000"/>
              <a:lumOff val="40000"/>
              <a:alpha val="49999"/>
            </a:schemeClr>
          </a:solidFill>
          <a:ln w="28575" cap="flat" cmpd="sng" algn="ctr">
            <a:solidFill>
              <a:schemeClr val="accent6">
                <a:lumMod val="74901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所有特征（包括 CLI 中的别名）都可以作为查询参数；未提供的特征将继续使用数据集中位数/众数作为默认值。若需要覆盖其他列，可多次传入 `</a:t>
            </a:r>
            <a:r>
              <a:rPr lang="en-US" sz="1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LXGW WenKai Mono Medium"/>
                <a:ea typeface="LXGW WenKai Mono Medium"/>
                <a:cs typeface="LXGW WenKai Mono Medium"/>
              </a:rPr>
              <a:t>feature=Column=Value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LXGW WenKai Mono Medium"/>
                <a:ea typeface="LXGW WenKai Mono Medium"/>
                <a:cs typeface="LXGW WenKai Mono Medium"/>
              </a:rPr>
              <a:t>`。</a:t>
            </a:r>
            <a:endParaRPr sz="1800" b="0" i="0" u="none" strike="noStrike" cap="none" spc="0">
              <a:solidFill>
                <a:schemeClr val="lt1"/>
              </a:solidFill>
              <a:latin typeface="LXGW WenKai Mono Medium"/>
              <a:cs typeface="LXGW WenKai Mono Medium"/>
            </a:endParaRPr>
          </a:p>
        </p:txBody>
      </p:sp>
      <p:sp>
        <p:nvSpPr>
          <p:cNvPr id="750191815" name="内容占位符 2"/>
          <p:cNvSpPr>
            <a:spLocks noGrp="1"/>
          </p:cNvSpPr>
          <p:nvPr/>
        </p:nvSpPr>
        <p:spPr bwMode="auto">
          <a:xfrm flipH="0" flipV="0">
            <a:off x="6175096" y="1785935"/>
            <a:ext cx="5474940" cy="38350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霞鹜文楷"/>
                <a:ea typeface="霞鹜文楷"/>
                <a:cs typeface="霞鹜文楷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GET 响应示例</a:t>
            </a:r>
            <a:endParaRPr lang="en-US" sz="1600" b="0" i="0" u="none" strike="noStrike" cap="none" spc="0">
              <a:solidFill>
                <a:schemeClr val="accent1">
                  <a:lumMod val="75000"/>
                </a:schemeClr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r>
              <a:rPr lang="en-US" sz="16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霞鹜文楷"/>
                <a:ea typeface="霞鹜文楷"/>
                <a:cs typeface="霞鹜文楷"/>
              </a:rPr>
              <a:t>/predict?Rooms=3&amp;Bathroom=2&amp;Car=1&amp;Distance=6.5</a:t>
            </a:r>
            <a:endParaRPr lang="en-US" sz="2800" b="0" i="0" u="none" strike="noStrike" cap="none" spc="0">
              <a:solidFill>
                <a:schemeClr val="tx1"/>
              </a:solidFill>
              <a:latin typeface="霞鹜文楷"/>
              <a:ea typeface="霞鹜文楷"/>
              <a:cs typeface="霞鹜文楷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97007" name="矩形 1"/>
          <p:cNvSpPr/>
          <p:nvPr/>
        </p:nvSpPr>
        <p:spPr bwMode="auto">
          <a:xfrm>
            <a:off x="3261723" y="2828835"/>
            <a:ext cx="5669992" cy="118907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zh-CN" sz="7200" b="1" cap="none" spc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latin typeface="方正卡通_GBK"/>
                <a:ea typeface="方正卡通_GBK"/>
              </a:rPr>
              <a:t>感谢您的</a:t>
            </a:r>
            <a:r>
              <a:rPr lang="en-US" sz="7200" b="1" cap="none" spc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latin typeface="方正卡通_GBK"/>
                <a:ea typeface="方正卡通_GBK"/>
              </a:rPr>
              <a:t>阅读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Candy Cotton</dc:creator>
  <cp:lastModifiedBy/>
  <cp:revision>18</cp:revision>
  <dcterms:created xsi:type="dcterms:W3CDTF">2023-09-30T06:36:03Z</dcterms:created>
  <dcterms:modified xsi:type="dcterms:W3CDTF">2025-12-14T18:14:48Z</dcterms:modified>
</cp:coreProperties>
</file>